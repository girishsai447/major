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4.png"/><Relationship Id="rId5" Type="http://schemas.openxmlformats.org/officeDocument/2006/relationships/image" Target="../media/image-4-4.png"/><Relationship Id="rId6" Type="http://schemas.openxmlformats.org/officeDocument/2006/relationships/image" Target="../media/image-4-4.png"/><Relationship Id="rId7" Type="http://schemas.openxmlformats.org/officeDocument/2006/relationships/image" Target="../media/image-4-4.png"/><Relationship Id="rId8" Type="http://schemas.openxmlformats.org/officeDocument/2006/relationships/image" Target="../media/image-4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3.png"/><Relationship Id="rId6" Type="http://schemas.openxmlformats.org/officeDocument/2006/relationships/image" Target="../media/image-5-6.png"/><Relationship Id="rId7" Type="http://schemas.openxmlformats.org/officeDocument/2006/relationships/image" Target="../media/image-5-3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3.png"/><Relationship Id="rId6" Type="http://schemas.openxmlformats.org/officeDocument/2006/relationships/image" Target="../media/image-7-6.png"/><Relationship Id="rId7" Type="http://schemas.openxmlformats.org/officeDocument/2006/relationships/image" Target="../media/image-7-3.png"/><Relationship Id="rId8" Type="http://schemas.openxmlformats.org/officeDocument/2006/relationships/image" Target="../media/image-7-8.png"/><Relationship Id="rId9" Type="http://schemas.openxmlformats.org/officeDocument/2006/relationships/image" Target="../media/image-7-3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58368" cy="658368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3" name="Image 0" descr="C:\Users\Chitti\Desktop\major\educoin-ppt\assets\co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MAJOR PROJECT  ·  DEPT. OF CSE  ·  2026–2027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9966960" y="5029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B3568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966960" y="50292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1792" y="1783080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EduCoin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 Stable Cryptocurrency for a Sector-Specific Requirement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40080" y="3703320"/>
            <a:ext cx="10881360" cy="0"/>
          </a:xfrm>
          <a:prstGeom prst="line">
            <a:avLst/>
          </a:prstGeom>
          <a:noFill/>
          <a:ln w="12700">
            <a:solidFill>
              <a:srgbClr val="2B447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1B3568"/>
          </a:solidFill>
          <a:ln/>
        </p:spPr>
      </p:sp>
      <p:pic>
        <p:nvPicPr>
          <p:cNvPr id="11" name="Image 1" descr="C:\Users\Chitti\Desktop\major\educoin-ppt\assets\c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0873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Deepak Sukheja — Associate Professor, Dept. of Computer Science &amp; Engineering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0080" y="4617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6 — PRESENTED BY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956048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B3568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504748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Girish Sai Tipirneni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77240" y="54132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23071A05P4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383280" y="4956048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B3568"/>
          </a:solidFill>
          <a:ln/>
        </p:spPr>
      </p:sp>
      <p:sp>
        <p:nvSpPr>
          <p:cNvPr id="18" name="Text 14"/>
          <p:cNvSpPr/>
          <p:nvPr/>
        </p:nvSpPr>
        <p:spPr>
          <a:xfrm>
            <a:off x="3520440" y="504748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Ravva Sai Sanjeeth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520440" y="54132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23071A05T9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26480" y="4956048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B3568"/>
          </a:solidFill>
          <a:ln/>
        </p:spPr>
      </p:sp>
      <p:sp>
        <p:nvSpPr>
          <p:cNvPr id="21" name="Text 17"/>
          <p:cNvSpPr/>
          <p:nvPr/>
        </p:nvSpPr>
        <p:spPr>
          <a:xfrm>
            <a:off x="6263640" y="504748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Siddhartha Brahmanapally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263640" y="54132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23071A05U3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869680" y="4956048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1B3568"/>
          </a:solidFill>
          <a:ln/>
        </p:spPr>
      </p:sp>
      <p:sp>
        <p:nvSpPr>
          <p:cNvPr id="24" name="Text 20"/>
          <p:cNvSpPr/>
          <p:nvPr/>
        </p:nvSpPr>
        <p:spPr>
          <a:xfrm>
            <a:off x="9006840" y="504748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Venuturla Jeevan M. Reddy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9006840" y="54132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23071A05U9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9281160" y="5989320"/>
            <a:ext cx="384048" cy="384048"/>
          </a:xfrm>
          <a:prstGeom prst="roundRect">
            <a:avLst>
              <a:gd name="adj" fmla="val 14286"/>
            </a:avLst>
          </a:prstGeom>
          <a:ln w="15875">
            <a:solidFill>
              <a:srgbClr val="3A548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9665208" y="6181344"/>
            <a:ext cx="347472" cy="0"/>
          </a:xfrm>
          <a:prstGeom prst="line">
            <a:avLst/>
          </a:prstGeom>
          <a:noFill/>
          <a:ln w="15875">
            <a:solidFill>
              <a:srgbClr val="3A548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0012680" y="5989320"/>
            <a:ext cx="384048" cy="384048"/>
          </a:xfrm>
          <a:prstGeom prst="roundRect">
            <a:avLst>
              <a:gd name="adj" fmla="val 14286"/>
            </a:avLst>
          </a:prstGeom>
          <a:ln w="15875">
            <a:solidFill>
              <a:srgbClr val="3A548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0396728" y="6181344"/>
            <a:ext cx="347472" cy="0"/>
          </a:xfrm>
          <a:prstGeom prst="line">
            <a:avLst/>
          </a:prstGeom>
          <a:noFill/>
          <a:ln w="15875">
            <a:solidFill>
              <a:srgbClr val="3A5488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0744200" y="5989320"/>
            <a:ext cx="384048" cy="384048"/>
          </a:xfrm>
          <a:prstGeom prst="roundRect">
            <a:avLst>
              <a:gd name="adj" fmla="val 14286"/>
            </a:avLst>
          </a:prstGeom>
          <a:ln w="15875">
            <a:solidFill>
              <a:srgbClr val="3A5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247120" y="457200"/>
            <a:ext cx="457200" cy="457200"/>
          </a:xfrm>
          <a:prstGeom prst="ellipse">
            <a:avLst/>
          </a:prstGeom>
          <a:solidFill>
            <a:srgbClr val="142857"/>
          </a:solidFill>
          <a:ln/>
        </p:spPr>
      </p:sp>
      <p:pic>
        <p:nvPicPr>
          <p:cNvPr id="5" name="Image 0" descr="C:\Users\Chitti\Desktop\major\educoin-ppt\assets\co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566928"/>
            <a:ext cx="237744" cy="2377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91640"/>
            <a:ext cx="420624" cy="420624"/>
          </a:xfrm>
          <a:prstGeom prst="ellipse">
            <a:avLst/>
          </a:prstGeom>
          <a:solidFill>
            <a:srgbClr val="142857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691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07008" y="1691640"/>
            <a:ext cx="4690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295144"/>
            <a:ext cx="420624" cy="420624"/>
          </a:xfrm>
          <a:prstGeom prst="ellipse">
            <a:avLst/>
          </a:prstGeom>
          <a:solidFill>
            <a:srgbClr val="142857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2951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07008" y="2295144"/>
            <a:ext cx="4690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&amp; Its Problems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2898648"/>
            <a:ext cx="420624" cy="420624"/>
          </a:xfrm>
          <a:prstGeom prst="ellipse">
            <a:avLst/>
          </a:prstGeom>
          <a:solidFill>
            <a:srgbClr val="142857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8986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07008" y="2898648"/>
            <a:ext cx="4690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— EduCoin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142857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207008" y="3502152"/>
            <a:ext cx="4690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" y="4105656"/>
            <a:ext cx="420624" cy="420624"/>
          </a:xfrm>
          <a:prstGeom prst="ellipse">
            <a:avLst/>
          </a:prstGeom>
          <a:solidFill>
            <a:srgbClr val="142857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41056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207008" y="4105656"/>
            <a:ext cx="4690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System Architecture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263640" y="1691640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263640" y="16916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830568" y="1691640"/>
            <a:ext cx="4690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Core Modules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263640" y="2295144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5" name="Text 22"/>
          <p:cNvSpPr/>
          <p:nvPr/>
        </p:nvSpPr>
        <p:spPr>
          <a:xfrm>
            <a:off x="6263640" y="22951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830568" y="2295144"/>
            <a:ext cx="4690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263640" y="2898648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263640" y="28986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830568" y="2898648"/>
            <a:ext cx="4690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Plan &amp; Team Distribution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263640" y="3502152"/>
            <a:ext cx="420624" cy="42062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1" name="Text 28"/>
          <p:cNvSpPr/>
          <p:nvPr/>
        </p:nvSpPr>
        <p:spPr>
          <a:xfrm>
            <a:off x="6263640" y="35021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830568" y="3502152"/>
            <a:ext cx="4690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4008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EDUCOIN  ·  TEAM 6  ·  DEPT. OF CSE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247120" y="457200"/>
            <a:ext cx="457200" cy="457200"/>
          </a:xfrm>
          <a:prstGeom prst="ellipse">
            <a:avLst/>
          </a:prstGeom>
          <a:solidFill>
            <a:srgbClr val="142857"/>
          </a:solidFill>
          <a:ln/>
        </p:spPr>
      </p:sp>
      <p:pic>
        <p:nvPicPr>
          <p:cNvPr id="5" name="Image 0" descr="C:\Users\Chitti\Desktop\major\educoin-ppt\assets\co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56692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783080"/>
            <a:ext cx="5623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▸"/>
            </a:pPr>
            <a:r>
              <a:rPr lang="en-US" sz="15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scholarships fund tuition, examination, and hostel fees for millions of students every year.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▸"/>
            </a:pPr>
            <a:r>
              <a:rPr lang="en-US" sz="15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credited to a bank account, this money becomes ordinary currency — free to withdraw, transfer, or spend on anything.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▸"/>
            </a:pPr>
            <a:r>
              <a:rPr lang="en-US" sz="15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offers a decentralized, tamper-evident ledger — the same foundation behind Bitcoin and Ethereum.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▸"/>
            </a:pPr>
            <a:r>
              <a:rPr lang="en-US" sz="15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EduCoin applies this technology to create a purpose-bound digital currency exclusively for education.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537960" y="1783080"/>
            <a:ext cx="5029200" cy="1170432"/>
          </a:xfrm>
          <a:prstGeom prst="roundRect">
            <a:avLst>
              <a:gd name="adj" fmla="val 7031"/>
            </a:avLst>
          </a:prstGeom>
          <a:solidFill>
            <a:srgbClr val="EEF4FC"/>
          </a:solidFill>
          <a:ln/>
        </p:spPr>
      </p:sp>
      <p:sp>
        <p:nvSpPr>
          <p:cNvPr id="8" name="Shape 5"/>
          <p:cNvSpPr/>
          <p:nvPr/>
        </p:nvSpPr>
        <p:spPr>
          <a:xfrm>
            <a:off x="6766560" y="2084832"/>
            <a:ext cx="566928" cy="566928"/>
          </a:xfrm>
          <a:prstGeom prst="ellipse">
            <a:avLst/>
          </a:prstGeom>
          <a:solidFill>
            <a:srgbClr val="142857"/>
          </a:solidFill>
          <a:ln/>
        </p:spPr>
      </p:sp>
      <p:pic>
        <p:nvPicPr>
          <p:cNvPr id="9" name="Image 1" descr="C:\Users\Chitti\Desktop\major\educoin-ppt\assets\lin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221992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0" y="192938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498080" y="2313432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distributed, tamper-evident ledger of every transaction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537960" y="3154680"/>
            <a:ext cx="5029200" cy="1170432"/>
          </a:xfrm>
          <a:prstGeom prst="roundRect">
            <a:avLst>
              <a:gd name="adj" fmla="val 7031"/>
            </a:avLst>
          </a:prstGeom>
          <a:solidFill>
            <a:srgbClr val="EEF4FC"/>
          </a:solidFill>
          <a:ln/>
        </p:spPr>
      </p:sp>
      <p:sp>
        <p:nvSpPr>
          <p:cNvPr id="13" name="Shape 9"/>
          <p:cNvSpPr/>
          <p:nvPr/>
        </p:nvSpPr>
        <p:spPr>
          <a:xfrm>
            <a:off x="6766560" y="3456432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4" name="Image 2" descr="C:\Users\Chitti\Desktop\major\educoin-ppt\assets\contrac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3593592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98080" y="330098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498080" y="3685032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Self-enforcing code that defines exactly how funds may be spent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537960" y="4526280"/>
            <a:ext cx="5029200" cy="1170432"/>
          </a:xfrm>
          <a:prstGeom prst="roundRect">
            <a:avLst>
              <a:gd name="adj" fmla="val 7031"/>
            </a:avLst>
          </a:prstGeom>
          <a:solidFill>
            <a:srgbClr val="EEF4FC"/>
          </a:solidFill>
          <a:ln/>
        </p:spPr>
      </p:sp>
      <p:sp>
        <p:nvSpPr>
          <p:cNvPr id="18" name="Shape 13"/>
          <p:cNvSpPr/>
          <p:nvPr/>
        </p:nvSpPr>
        <p:spPr>
          <a:xfrm>
            <a:off x="6766560" y="4828032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9" name="Image 3" descr="C:\Users\Chitti\Desktop\major\educoin-ppt\assets\coi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4965192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498080" y="467258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Digital Currency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7498080" y="5056632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EduCoin — pegged 1:1 to the rupee and fully reserve-backed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64008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EDUCOIN  ·  TEAM 6  ·  DEPT. OF CSE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CURRENT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&amp; Its Problems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247120" y="457200"/>
            <a:ext cx="457200" cy="457200"/>
          </a:xfrm>
          <a:prstGeom prst="ellipse">
            <a:avLst/>
          </a:prstGeom>
          <a:solidFill>
            <a:srgbClr val="142857"/>
          </a:solidFill>
          <a:ln/>
        </p:spPr>
      </p:sp>
      <p:pic>
        <p:nvPicPr>
          <p:cNvPr id="5" name="Image 0" descr="C:\Users\Chitti\Desktop\major\educoin-ppt\assets\co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566928"/>
            <a:ext cx="237744" cy="2377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83080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142857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783080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Scholarship Funds</a:t>
            </a:r>
            <a:endParaRPr lang="en-US" sz="1300" dirty="0"/>
          </a:p>
        </p:txBody>
      </p:sp>
      <p:pic>
        <p:nvPicPr>
          <p:cNvPr id="8" name="Image 1" descr="C:\Users\Chitti\Desktop\major\educoin-ppt\assets\arrowdow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2487168"/>
            <a:ext cx="274320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816352"/>
            <a:ext cx="4846320" cy="658368"/>
          </a:xfrm>
          <a:prstGeom prst="roundRect">
            <a:avLst>
              <a:gd name="adj" fmla="val 11111"/>
            </a:avLst>
          </a:prstGeom>
          <a:solidFill>
            <a:srgbClr val="EEF4FC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2816352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Student Bank Account</a:t>
            </a:r>
            <a:endParaRPr lang="en-US" sz="1300" dirty="0"/>
          </a:p>
        </p:txBody>
      </p:sp>
      <p:pic>
        <p:nvPicPr>
          <p:cNvPr id="11" name="Image 2" descr="C:\Users\Chitti\Desktop\major\educoin-ppt\assets\arrowdow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3520440"/>
            <a:ext cx="274320" cy="2743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40080" y="3840480"/>
            <a:ext cx="2308860" cy="868680"/>
          </a:xfrm>
          <a:prstGeom prst="roundRect">
            <a:avLst>
              <a:gd name="adj" fmla="val 8421"/>
            </a:avLst>
          </a:prstGeom>
          <a:solidFill>
            <a:srgbClr val="E7F8F1"/>
          </a:solidFill>
          <a:ln/>
        </p:spPr>
      </p:sp>
      <p:sp>
        <p:nvSpPr>
          <p:cNvPr id="13" name="Text 8"/>
          <p:cNvSpPr/>
          <p:nvPr/>
        </p:nvSpPr>
        <p:spPr>
          <a:xfrm>
            <a:off x="731520" y="3913632"/>
            <a:ext cx="21259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E7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E7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(sometimes)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3177540" y="3840480"/>
            <a:ext cx="2308860" cy="868680"/>
          </a:xfrm>
          <a:prstGeom prst="roundRect">
            <a:avLst>
              <a:gd name="adj" fmla="val 8421"/>
            </a:avLst>
          </a:prstGeom>
          <a:solidFill>
            <a:srgbClr val="FCE7EC"/>
          </a:solidFill>
          <a:ln/>
        </p:spPr>
      </p:sp>
      <p:sp>
        <p:nvSpPr>
          <p:cNvPr id="15" name="Text 10"/>
          <p:cNvSpPr/>
          <p:nvPr/>
        </p:nvSpPr>
        <p:spPr>
          <a:xfrm>
            <a:off x="3268980" y="3913632"/>
            <a:ext cx="21259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Withdrawn / Non-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spend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40080" y="4892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 exists once funds reach a regular bank account.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943600" y="1783080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18" name="Image 3" descr="C:\Users\Chitti\Desktop\major\educoin-ppt\assets\war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190195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65392" y="1764792"/>
            <a:ext cx="5001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usage restriction — funds can be freely withdrawn or transferred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943600" y="2624328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1" name="Image 4" descr="C:\Users\Chitti\Desktop\major\educoin-ppt\assets\war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72" y="2743200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65392" y="2606040"/>
            <a:ext cx="5001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of diversion to non-educational expenses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5943600" y="3465576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4" name="Image 5" descr="C:\Users\Chitti\Desktop\major\educoin-ppt\assets\war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472" y="3584448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565392" y="3447288"/>
            <a:ext cx="5001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transparent trail from issuance to utilization</a:t>
            </a:r>
            <a:endParaRPr lang="en-US" sz="1350" dirty="0"/>
          </a:p>
        </p:txBody>
      </p:sp>
      <p:sp>
        <p:nvSpPr>
          <p:cNvPr id="26" name="Shape 18"/>
          <p:cNvSpPr/>
          <p:nvPr/>
        </p:nvSpPr>
        <p:spPr>
          <a:xfrm>
            <a:off x="5943600" y="4306824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7" name="Image 6" descr="C:\Users\Chitti\Desktop\major\educoin-ppt\assets\warn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2472" y="4425696"/>
            <a:ext cx="219456" cy="21945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565392" y="4288536"/>
            <a:ext cx="5001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auditing is slow, costly, and error-prone</a:t>
            </a:r>
            <a:endParaRPr lang="en-US" sz="1350" dirty="0"/>
          </a:p>
        </p:txBody>
      </p:sp>
      <p:sp>
        <p:nvSpPr>
          <p:cNvPr id="29" name="Shape 20"/>
          <p:cNvSpPr/>
          <p:nvPr/>
        </p:nvSpPr>
        <p:spPr>
          <a:xfrm>
            <a:off x="5943600" y="5148072"/>
            <a:ext cx="457200" cy="45720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30" name="Image 7" descr="C:\Users\Chitti\Desktop\major\educoin-ppt\assets\warn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472" y="5266944"/>
            <a:ext cx="219456" cy="21945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565392" y="5129784"/>
            <a:ext cx="50017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for the government or institutions</a:t>
            </a:r>
            <a:endParaRPr lang="en-US" sz="1350" dirty="0"/>
          </a:p>
        </p:txBody>
      </p:sp>
      <p:sp>
        <p:nvSpPr>
          <p:cNvPr id="32" name="Text 22"/>
          <p:cNvSpPr/>
          <p:nvPr/>
        </p:nvSpPr>
        <p:spPr>
          <a:xfrm>
            <a:off x="64008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EDUCOIN  ·  TEAM 6  ·  DEPT. OF CSE</a:t>
            </a:r>
            <a:endParaRPr lang="en-US" sz="900" dirty="0"/>
          </a:p>
        </p:txBody>
      </p:sp>
      <p:sp>
        <p:nvSpPr>
          <p:cNvPr id="33" name="Text 23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— EduCoin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247120" y="457200"/>
            <a:ext cx="457200" cy="457200"/>
          </a:xfrm>
          <a:prstGeom prst="ellipse">
            <a:avLst/>
          </a:prstGeom>
          <a:solidFill>
            <a:srgbClr val="142857"/>
          </a:solidFill>
          <a:ln/>
        </p:spPr>
      </p:sp>
      <p:pic>
        <p:nvPicPr>
          <p:cNvPr id="5" name="Image 0" descr="C:\Users\Chitti\Desktop\major\educoin-ppt\assets\co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566928"/>
            <a:ext cx="237744" cy="2377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2056" y="18288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EEF4FC"/>
          </a:solidFill>
          <a:ln/>
        </p:spPr>
      </p:sp>
      <p:sp>
        <p:nvSpPr>
          <p:cNvPr id="7" name="Shape 4"/>
          <p:cNvSpPr/>
          <p:nvPr/>
        </p:nvSpPr>
        <p:spPr>
          <a:xfrm>
            <a:off x="1798168" y="1993392"/>
            <a:ext cx="585216" cy="585216"/>
          </a:xfrm>
          <a:prstGeom prst="ellipse">
            <a:avLst/>
          </a:prstGeom>
          <a:solidFill>
            <a:srgbClr val="142857"/>
          </a:solidFill>
          <a:ln/>
        </p:spPr>
      </p:sp>
      <p:pic>
        <p:nvPicPr>
          <p:cNvPr id="8" name="Image 1" descr="C:\Users\Chitti\Desktop\major\educoin-ppt\assets\ban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328" y="213055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3496" y="26700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993496" y="292608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</a:t>
            </a:r>
            <a:endParaRPr lang="en-US" sz="1050" dirty="0"/>
          </a:p>
        </p:txBody>
      </p:sp>
      <p:pic>
        <p:nvPicPr>
          <p:cNvPr id="11" name="Image 2" descr="C:\Users\Chitti\Desktop\major\educoin-ppt\assets\arrowrigh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928" y="2395728"/>
            <a:ext cx="237744" cy="23774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572104" y="18288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EEF4FC"/>
          </a:solidFill>
          <a:ln/>
        </p:spPr>
      </p:sp>
      <p:sp>
        <p:nvSpPr>
          <p:cNvPr id="13" name="Shape 8"/>
          <p:cNvSpPr/>
          <p:nvPr/>
        </p:nvSpPr>
        <p:spPr>
          <a:xfrm>
            <a:off x="4468216" y="1993392"/>
            <a:ext cx="585216" cy="585216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4" name="Image 3" descr="C:\Users\Chitti\Desktop\major\educoin-ppt\assets\lin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376" y="2130552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63544" y="26700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EduCoin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3663544" y="292608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Ledger</a:t>
            </a:r>
            <a:endParaRPr lang="en-US" sz="1050" dirty="0"/>
          </a:p>
        </p:txBody>
      </p:sp>
      <p:pic>
        <p:nvPicPr>
          <p:cNvPr id="17" name="Image 4" descr="C:\Users\Chitti\Desktop\major\educoin-ppt\assets\arrowrigh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6976" y="2395728"/>
            <a:ext cx="237744" cy="23774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242152" y="18288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EEF4FC"/>
          </a:solidFill>
          <a:ln/>
        </p:spPr>
      </p:sp>
      <p:sp>
        <p:nvSpPr>
          <p:cNvPr id="19" name="Shape 12"/>
          <p:cNvSpPr/>
          <p:nvPr/>
        </p:nvSpPr>
        <p:spPr>
          <a:xfrm>
            <a:off x="7138264" y="1993392"/>
            <a:ext cx="585216" cy="585216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0" name="Image 5" descr="C:\Users\Chitti\Desktop\major\educoin-ppt\assets\cap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5424" y="2130552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333592" y="26700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333592" y="292608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050" dirty="0"/>
          </a:p>
        </p:txBody>
      </p:sp>
      <p:pic>
        <p:nvPicPr>
          <p:cNvPr id="23" name="Image 6" descr="C:\Users\Chitti\Desktop\major\educoin-ppt\assets\arrowright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7024" y="2395728"/>
            <a:ext cx="237744" cy="237744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8912200" y="18288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EEF4FC"/>
          </a:solidFill>
          <a:ln/>
        </p:spPr>
      </p:sp>
      <p:sp>
        <p:nvSpPr>
          <p:cNvPr id="25" name="Shape 16"/>
          <p:cNvSpPr/>
          <p:nvPr/>
        </p:nvSpPr>
        <p:spPr>
          <a:xfrm>
            <a:off x="9808312" y="1993392"/>
            <a:ext cx="585216" cy="585216"/>
          </a:xfrm>
          <a:prstGeom prst="ellipse">
            <a:avLst/>
          </a:prstGeom>
          <a:solidFill>
            <a:srgbClr val="1B3568"/>
          </a:solidFill>
          <a:ln/>
        </p:spPr>
      </p:sp>
      <p:pic>
        <p:nvPicPr>
          <p:cNvPr id="26" name="Image 7" descr="C:\Users\Chitti\Desktop\major\educoin-ppt\assets\shield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5472" y="2130552"/>
            <a:ext cx="310896" cy="31089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9003640" y="26700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350" dirty="0"/>
          </a:p>
        </p:txBody>
      </p:sp>
      <p:sp>
        <p:nvSpPr>
          <p:cNvPr id="28" name="Text 18"/>
          <p:cNvSpPr/>
          <p:nvPr/>
        </p:nvSpPr>
        <p:spPr>
          <a:xfrm>
            <a:off x="9003640" y="292608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Gate</a:t>
            </a:r>
            <a:endParaRPr lang="en-US" sz="1050" dirty="0"/>
          </a:p>
        </p:txBody>
      </p:sp>
      <p:sp>
        <p:nvSpPr>
          <p:cNvPr id="29" name="Shape 19"/>
          <p:cNvSpPr/>
          <p:nvPr/>
        </p:nvSpPr>
        <p:spPr>
          <a:xfrm>
            <a:off x="10100920" y="3200400"/>
            <a:ext cx="-2331720" cy="594360"/>
          </a:xfrm>
          <a:prstGeom prst="line">
            <a:avLst/>
          </a:prstGeom>
          <a:noFill/>
          <a:ln w="15875">
            <a:solidFill>
              <a:srgbClr val="9AA7BD"/>
            </a:solidFill>
            <a:prstDash val="dash"/>
          </a:ln>
        </p:spPr>
      </p:sp>
      <p:sp>
        <p:nvSpPr>
          <p:cNvPr id="30" name="Shape 20"/>
          <p:cNvSpPr/>
          <p:nvPr/>
        </p:nvSpPr>
        <p:spPr>
          <a:xfrm>
            <a:off x="10100920" y="3200400"/>
            <a:ext cx="2331720" cy="594360"/>
          </a:xfrm>
          <a:prstGeom prst="line">
            <a:avLst/>
          </a:prstGeom>
          <a:noFill/>
          <a:ln w="15875">
            <a:solidFill>
              <a:srgbClr val="9AA7BD"/>
            </a:solidFill>
            <a:prstDash val="dash"/>
          </a:ln>
        </p:spPr>
      </p:sp>
      <p:sp>
        <p:nvSpPr>
          <p:cNvPr id="31" name="Shape 21"/>
          <p:cNvSpPr/>
          <p:nvPr/>
        </p:nvSpPr>
        <p:spPr>
          <a:xfrm>
            <a:off x="5894680" y="3794760"/>
            <a:ext cx="3749040" cy="868680"/>
          </a:xfrm>
          <a:prstGeom prst="roundRect">
            <a:avLst>
              <a:gd name="adj" fmla="val 9474"/>
            </a:avLst>
          </a:prstGeom>
          <a:solidFill>
            <a:srgbClr val="E7F8F1"/>
          </a:solidFill>
          <a:ln/>
        </p:spPr>
      </p:sp>
      <p:sp>
        <p:nvSpPr>
          <p:cNvPr id="32" name="Text 22"/>
          <p:cNvSpPr/>
          <p:nvPr/>
        </p:nvSpPr>
        <p:spPr>
          <a:xfrm>
            <a:off x="6077560" y="379476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7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Institution / Vendor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7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category (tuition, exam, hostel, books)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10558120" y="3794760"/>
            <a:ext cx="3749040" cy="868680"/>
          </a:xfrm>
          <a:prstGeom prst="roundRect">
            <a:avLst>
              <a:gd name="adj" fmla="val 9474"/>
            </a:avLst>
          </a:prstGeom>
          <a:solidFill>
            <a:srgbClr val="FCE7EC"/>
          </a:solidFill>
          <a:ln/>
        </p:spPr>
      </p:sp>
      <p:sp>
        <p:nvSpPr>
          <p:cNvPr id="34" name="Text 24"/>
          <p:cNvSpPr/>
          <p:nvPr/>
        </p:nvSpPr>
        <p:spPr>
          <a:xfrm>
            <a:off x="10741000" y="379476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Unauthorized Recipient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Non-educational spend — rejected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723748" y="5074920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142857"/>
          </a:solidFill>
          <a:ln/>
        </p:spPr>
      </p:sp>
      <p:sp>
        <p:nvSpPr>
          <p:cNvPr id="36" name="Text 26"/>
          <p:cNvSpPr/>
          <p:nvPr/>
        </p:nvSpPr>
        <p:spPr>
          <a:xfrm>
            <a:off x="723748" y="50749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250" dirty="0"/>
          </a:p>
        </p:txBody>
      </p:sp>
      <p:sp>
        <p:nvSpPr>
          <p:cNvPr id="37" name="Shape 27"/>
          <p:cNvSpPr/>
          <p:nvPr/>
        </p:nvSpPr>
        <p:spPr>
          <a:xfrm>
            <a:off x="3466948" y="5074920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142857"/>
          </a:solidFill>
          <a:ln/>
        </p:spPr>
      </p:sp>
      <p:sp>
        <p:nvSpPr>
          <p:cNvPr id="38" name="Text 28"/>
          <p:cNvSpPr/>
          <p:nvPr/>
        </p:nvSpPr>
        <p:spPr>
          <a:xfrm>
            <a:off x="3466948" y="50749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</a:t>
            </a:r>
            <a:endParaRPr lang="en-US" sz="1250" dirty="0"/>
          </a:p>
        </p:txBody>
      </p:sp>
      <p:sp>
        <p:nvSpPr>
          <p:cNvPr id="39" name="Shape 29"/>
          <p:cNvSpPr/>
          <p:nvPr/>
        </p:nvSpPr>
        <p:spPr>
          <a:xfrm>
            <a:off x="6210148" y="5074920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142857"/>
          </a:solidFill>
          <a:ln/>
        </p:spPr>
      </p:sp>
      <p:sp>
        <p:nvSpPr>
          <p:cNvPr id="40" name="Text 30"/>
          <p:cNvSpPr/>
          <p:nvPr/>
        </p:nvSpPr>
        <p:spPr>
          <a:xfrm>
            <a:off x="6210148" y="50749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Purpose-bound</a:t>
            </a:r>
            <a:endParaRPr lang="en-US" sz="1250" dirty="0"/>
          </a:p>
        </p:txBody>
      </p:sp>
      <p:sp>
        <p:nvSpPr>
          <p:cNvPr id="41" name="Shape 31"/>
          <p:cNvSpPr/>
          <p:nvPr/>
        </p:nvSpPr>
        <p:spPr>
          <a:xfrm>
            <a:off x="8953348" y="5074920"/>
            <a:ext cx="2514600" cy="502920"/>
          </a:xfrm>
          <a:prstGeom prst="roundRect">
            <a:avLst>
              <a:gd name="adj" fmla="val 50909"/>
            </a:avLst>
          </a:prstGeom>
          <a:solidFill>
            <a:srgbClr val="142857"/>
          </a:solidFill>
          <a:ln/>
        </p:spPr>
      </p:sp>
      <p:sp>
        <p:nvSpPr>
          <p:cNvPr id="42" name="Text 32"/>
          <p:cNvSpPr/>
          <p:nvPr/>
        </p:nvSpPr>
        <p:spPr>
          <a:xfrm>
            <a:off x="8953348" y="50749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64008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EDUCOIN  ·  TEAM 6  ·  DEPT. OF CSE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247120" y="457200"/>
            <a:ext cx="457200" cy="457200"/>
          </a:xfrm>
          <a:prstGeom prst="ellipse">
            <a:avLst/>
          </a:prstGeom>
          <a:solidFill>
            <a:srgbClr val="142857"/>
          </a:solidFill>
          <a:ln/>
        </p:spPr>
      </p:sp>
      <p:pic>
        <p:nvPicPr>
          <p:cNvPr id="5" name="Image 0" descr="C:\Users\Chitti\Desktop\major\educoin-ppt\assets\co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566928"/>
            <a:ext cx="237744" cy="2377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10881360" cy="1600200"/>
          </a:xfrm>
          <a:prstGeom prst="roundRect">
            <a:avLst>
              <a:gd name="adj" fmla="val 5714"/>
            </a:avLst>
          </a:prstGeom>
          <a:solidFill>
            <a:srgbClr val="EEF4FC"/>
          </a:solidFill>
          <a:ln/>
        </p:spPr>
      </p:sp>
      <p:pic>
        <p:nvPicPr>
          <p:cNvPr id="7" name="Image 1" descr="C:\Users\Chitti\Desktop\major\educoin-ppt\assets\quot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10512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78308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scholarship funds, once transferred to a student's bank account, become ordinary currency — free to be withdrawn, transferred, or spent on non-educational activities. EduCoin restricts scholarship funds strictly to authorized educational purposes such as tuition, examination, and hostel fees.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3520440"/>
            <a:ext cx="52578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14400" y="3685032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914400" y="443484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the Educational Currency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14400" y="493776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EduCurrency using blockchain technology, where educational coins are generated and recorded securely — a transparent, verifiable mechanism for creating and managing the currency.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63640" y="3520440"/>
            <a:ext cx="52578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37960" y="3685032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6537960" y="443484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Boundaries via Smart Contract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537960" y="493776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smart contract that defines and enforces how EduCurrency can be transferred and used — restricting transactions to authorized participants and approved educational purposes.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008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EDUCOIN  ·  TEAM 6  ·  DEPT. OF CSE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247120" y="457200"/>
            <a:ext cx="457200" cy="457200"/>
          </a:xfrm>
          <a:prstGeom prst="ellipse">
            <a:avLst/>
          </a:prstGeom>
          <a:solidFill>
            <a:srgbClr val="142857"/>
          </a:solidFill>
          <a:ln/>
        </p:spPr>
      </p:sp>
      <p:pic>
        <p:nvPicPr>
          <p:cNvPr id="5" name="Image 0" descr="C:\Users\Chitti\Desktop\major\educoin-ppt\assets\co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566928"/>
            <a:ext cx="237744" cy="2377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03120" y="1572768"/>
            <a:ext cx="7955280" cy="749808"/>
          </a:xfrm>
          <a:prstGeom prst="roundRect">
            <a:avLst>
              <a:gd name="adj" fmla="val 10976"/>
            </a:avLst>
          </a:prstGeom>
          <a:solidFill>
            <a:srgbClr val="142857"/>
          </a:solidFill>
          <a:ln/>
        </p:spPr>
      </p:sp>
      <p:sp>
        <p:nvSpPr>
          <p:cNvPr id="7" name="Shape 4"/>
          <p:cNvSpPr/>
          <p:nvPr/>
        </p:nvSpPr>
        <p:spPr>
          <a:xfrm>
            <a:off x="2267712" y="1719072"/>
            <a:ext cx="457200" cy="45720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8" name="Image 1" descr="C:\Users\Chitti\Desktop\major\educoin-ppt\assets\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296" y="1819656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26080" y="1664208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2926080" y="1975104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· Institution · Student · Vendor</a:t>
            </a:r>
            <a:endParaRPr lang="en-US" sz="1100" dirty="0"/>
          </a:p>
        </p:txBody>
      </p:sp>
      <p:pic>
        <p:nvPicPr>
          <p:cNvPr id="11" name="Image 2" descr="C:\Users\Chitti\Desktop\major\educoin-ppt\assets\arrowdown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295144"/>
            <a:ext cx="201168" cy="20116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103120" y="2468880"/>
            <a:ext cx="7955280" cy="749808"/>
          </a:xfrm>
          <a:prstGeom prst="roundRect">
            <a:avLst>
              <a:gd name="adj" fmla="val 10976"/>
            </a:avLst>
          </a:prstGeom>
          <a:solidFill>
            <a:srgbClr val="1B3568"/>
          </a:solidFill>
          <a:ln/>
        </p:spPr>
      </p:sp>
      <p:sp>
        <p:nvSpPr>
          <p:cNvPr id="13" name="Shape 8"/>
          <p:cNvSpPr/>
          <p:nvPr/>
        </p:nvSpPr>
        <p:spPr>
          <a:xfrm>
            <a:off x="2267712" y="2615184"/>
            <a:ext cx="457200" cy="45720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4" name="Image 3" descr="C:\Users\Chitti\Desktop\major\educoin-ppt\assets\lapto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8296" y="2715768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926080" y="256032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2926080" y="2871216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UI + REST API Routes</a:t>
            </a:r>
            <a:endParaRPr lang="en-US" sz="1100" dirty="0"/>
          </a:p>
        </p:txBody>
      </p:sp>
      <p:pic>
        <p:nvPicPr>
          <p:cNvPr id="17" name="Image 4" descr="C:\Users\Chitti\Desktop\major\educoin-ppt\assets\arrowdown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3191256"/>
            <a:ext cx="201168" cy="201168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2103120" y="3364992"/>
            <a:ext cx="7955280" cy="749808"/>
          </a:xfrm>
          <a:prstGeom prst="roundRect">
            <a:avLst>
              <a:gd name="adj" fmla="val 10976"/>
            </a:avLst>
          </a:prstGeom>
          <a:solidFill>
            <a:srgbClr val="F2A900"/>
          </a:solidFill>
          <a:ln/>
        </p:spPr>
      </p:sp>
      <p:sp>
        <p:nvSpPr>
          <p:cNvPr id="19" name="Shape 12"/>
          <p:cNvSpPr/>
          <p:nvPr/>
        </p:nvSpPr>
        <p:spPr>
          <a:xfrm>
            <a:off x="2267712" y="3511296"/>
            <a:ext cx="457200" cy="45720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20" name="Image 5" descr="C:\Users\Chitti\Desktop\major\educoin-ppt\assets\contrac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8296" y="3611880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926080" y="3456432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Policy Engine</a:t>
            </a:r>
            <a:endParaRPr lang="en-US" sz="1500" dirty="0"/>
          </a:p>
        </p:txBody>
      </p:sp>
      <p:sp>
        <p:nvSpPr>
          <p:cNvPr id="22" name="Text 14"/>
          <p:cNvSpPr/>
          <p:nvPr/>
        </p:nvSpPr>
        <p:spPr>
          <a:xfrm>
            <a:off x="2926080" y="3767328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10-rule enforcement engine (R1–R10)</a:t>
            </a:r>
            <a:endParaRPr lang="en-US" sz="1100" dirty="0"/>
          </a:p>
        </p:txBody>
      </p:sp>
      <p:pic>
        <p:nvPicPr>
          <p:cNvPr id="23" name="Image 6" descr="C:\Users\Chitti\Desktop\major\educoin-ppt\assets\arrowdown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0200" y="4087368"/>
            <a:ext cx="201168" cy="201168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2103120" y="4261104"/>
            <a:ext cx="7955280" cy="749808"/>
          </a:xfrm>
          <a:prstGeom prst="roundRect">
            <a:avLst>
              <a:gd name="adj" fmla="val 10976"/>
            </a:avLst>
          </a:prstGeom>
          <a:solidFill>
            <a:srgbClr val="10B981"/>
          </a:solidFill>
          <a:ln/>
        </p:spPr>
      </p:sp>
      <p:sp>
        <p:nvSpPr>
          <p:cNvPr id="25" name="Shape 16"/>
          <p:cNvSpPr/>
          <p:nvPr/>
        </p:nvSpPr>
        <p:spPr>
          <a:xfrm>
            <a:off x="2267712" y="4407408"/>
            <a:ext cx="457200" cy="45720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26" name="Image 7" descr="C:\Users\Chitti\Desktop\major\educoin-ppt\assets\cubes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8296" y="4507992"/>
            <a:ext cx="256032" cy="25603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2926080" y="4352544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Core</a:t>
            </a:r>
            <a:endParaRPr lang="en-US" sz="1500" dirty="0"/>
          </a:p>
        </p:txBody>
      </p:sp>
      <p:sp>
        <p:nvSpPr>
          <p:cNvPr id="28" name="Text 18"/>
          <p:cNvSpPr/>
          <p:nvPr/>
        </p:nvSpPr>
        <p:spPr>
          <a:xfrm>
            <a:off x="2926080" y="4663440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· SHA-256 · Proof-of-Work · Merkle Tree</a:t>
            </a:r>
            <a:endParaRPr lang="en-US" sz="1100" dirty="0"/>
          </a:p>
        </p:txBody>
      </p:sp>
      <p:pic>
        <p:nvPicPr>
          <p:cNvPr id="29" name="Image 8" descr="C:\Users\Chitti\Desktop\major\educoin-ppt\assets\arrowdown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0200" y="4983480"/>
            <a:ext cx="201168" cy="201168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2103120" y="5157216"/>
            <a:ext cx="7955280" cy="749808"/>
          </a:xfrm>
          <a:prstGeom prst="roundRect">
            <a:avLst>
              <a:gd name="adj" fmla="val 10976"/>
            </a:avLst>
          </a:prstGeom>
          <a:solidFill>
            <a:srgbClr val="5B6B85"/>
          </a:solidFill>
          <a:ln/>
        </p:spPr>
      </p:sp>
      <p:sp>
        <p:nvSpPr>
          <p:cNvPr id="31" name="Shape 20"/>
          <p:cNvSpPr/>
          <p:nvPr/>
        </p:nvSpPr>
        <p:spPr>
          <a:xfrm>
            <a:off x="2267712" y="5303520"/>
            <a:ext cx="457200" cy="45720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32" name="Image 9" descr="C:\Users\Chitti\Desktop\major\educoin-ppt\assets\database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68296" y="5404104"/>
            <a:ext cx="256032" cy="256032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2926080" y="5248656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Layer</a:t>
            </a:r>
            <a:endParaRPr lang="en-US" sz="1500" dirty="0"/>
          </a:p>
        </p:txBody>
      </p:sp>
      <p:sp>
        <p:nvSpPr>
          <p:cNvPr id="34" name="Text 22"/>
          <p:cNvSpPr/>
          <p:nvPr/>
        </p:nvSpPr>
        <p:spPr>
          <a:xfrm>
            <a:off x="2926080" y="5559552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ledger storage</a:t>
            </a:r>
            <a:endParaRPr lang="en-US" sz="1100" dirty="0"/>
          </a:p>
        </p:txBody>
      </p:sp>
      <p:sp>
        <p:nvSpPr>
          <p:cNvPr id="35" name="Text 23"/>
          <p:cNvSpPr/>
          <p:nvPr/>
        </p:nvSpPr>
        <p:spPr>
          <a:xfrm>
            <a:off x="502920" y="1847088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flow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through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</a:t>
            </a:r>
            <a:endParaRPr lang="en-US" sz="1050" dirty="0"/>
          </a:p>
        </p:txBody>
      </p:sp>
      <p:sp>
        <p:nvSpPr>
          <p:cNvPr id="36" name="Text 24"/>
          <p:cNvSpPr/>
          <p:nvPr/>
        </p:nvSpPr>
        <p:spPr>
          <a:xfrm>
            <a:off x="10241280" y="4224528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Confirmations &amp;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flow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up</a:t>
            </a:r>
            <a:endParaRPr lang="en-US" sz="1050" dirty="0"/>
          </a:p>
        </p:txBody>
      </p:sp>
      <p:sp>
        <p:nvSpPr>
          <p:cNvPr id="37" name="Text 25"/>
          <p:cNvSpPr/>
          <p:nvPr/>
        </p:nvSpPr>
        <p:spPr>
          <a:xfrm>
            <a:off x="64008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EDUCOIN  ·  TEAM 6  ·  DEPT. OF CSE</a:t>
            </a:r>
            <a:endParaRPr lang="en-US" sz="900" dirty="0"/>
          </a:p>
        </p:txBody>
      </p:sp>
      <p:sp>
        <p:nvSpPr>
          <p:cNvPr id="38" name="Text 26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247120" y="457200"/>
            <a:ext cx="457200" cy="457200"/>
          </a:xfrm>
          <a:prstGeom prst="ellipse">
            <a:avLst/>
          </a:prstGeom>
          <a:solidFill>
            <a:srgbClr val="142857"/>
          </a:solidFill>
          <a:ln/>
        </p:spPr>
      </p:sp>
      <p:pic>
        <p:nvPicPr>
          <p:cNvPr id="5" name="Image 0" descr="C:\Users\Chitti\Desktop\major\educoin-ppt\assets\co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566928"/>
            <a:ext cx="237744" cy="2377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572768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EEF4FC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" y="1719072"/>
            <a:ext cx="548640" cy="548640"/>
          </a:xfrm>
          <a:prstGeom prst="ellipse">
            <a:avLst/>
          </a:prstGeom>
          <a:solidFill>
            <a:srgbClr val="142857"/>
          </a:solidFill>
          <a:ln/>
        </p:spPr>
      </p:sp>
      <p:pic>
        <p:nvPicPr>
          <p:cNvPr id="8" name="Image 1" descr="C:\Users\Chitti\Desktop\major\educoin-ppt\assets\cub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85623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691640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Blockchain Core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554480" y="2011680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structure, SHA-256 hashing, proof-of-work mining, Merkle-tree verification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" y="2560320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04672" y="2706624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3" name="Image 2" descr="C:\Users\Chitti\Desktop\major\educoin-ppt\assets\wall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84378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2679192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Wallet &amp; Issuance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554480" y="2999232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key pairs, Government minting, reserve-backed 1:1 rupee peg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3547872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EEF4FC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04672" y="3694176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8" name="Image 3" descr="C:\Users\Chitti\Desktop\major\educoin-ppt\assets\contrac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3831336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666744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Smart Contract Policy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554480" y="3986784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10-rule engine: authorized participants, approved categories, spending caps, expiry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0080" y="4535424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04672" y="4681728"/>
            <a:ext cx="548640" cy="548640"/>
          </a:xfrm>
          <a:prstGeom prst="ellipse">
            <a:avLst/>
          </a:prstGeom>
          <a:solidFill>
            <a:srgbClr val="1B3568"/>
          </a:solidFill>
          <a:ln/>
        </p:spPr>
      </p:sp>
      <p:pic>
        <p:nvPicPr>
          <p:cNvPr id="23" name="Image 4" descr="C:\Users\Chitti\Desktop\major\educoin-ppt\assets\rout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818888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54480" y="4654296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Traceability &amp; Settlement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1554480" y="4974336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Issuance-to-utilization tracing, redemption to INR, clawback of lapsed funds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40080" y="5522976"/>
            <a:ext cx="10881360" cy="841248"/>
          </a:xfrm>
          <a:prstGeom prst="roundRect">
            <a:avLst>
              <a:gd name="adj" fmla="val 9783"/>
            </a:avLst>
          </a:prstGeom>
          <a:solidFill>
            <a:srgbClr val="EEF4FC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804672" y="5669280"/>
            <a:ext cx="548640" cy="548640"/>
          </a:xfrm>
          <a:prstGeom prst="ellipse">
            <a:avLst/>
          </a:prstGeom>
          <a:solidFill>
            <a:srgbClr val="5B6B85"/>
          </a:solidFill>
          <a:ln/>
        </p:spPr>
      </p:sp>
      <p:pic>
        <p:nvPicPr>
          <p:cNvPr id="28" name="Image 5" descr="C:\Users\Chitti\Desktop\major\educoin-ppt\assets\char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580644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54480" y="5641848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Application &amp; Reporting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1554480" y="5961888"/>
            <a:ext cx="9692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dashboards, analytics, audit trail, admin console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64008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EDUCOIN  ·  TEAM 6  ·  DEPT. OF CSE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PLANNING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247120" y="457200"/>
            <a:ext cx="457200" cy="457200"/>
          </a:xfrm>
          <a:prstGeom prst="ellipse">
            <a:avLst/>
          </a:prstGeom>
          <a:solidFill>
            <a:srgbClr val="142857"/>
          </a:solidFill>
          <a:ln/>
        </p:spPr>
      </p:sp>
      <p:pic>
        <p:nvPicPr>
          <p:cNvPr id="5" name="Image 0" descr="C:\Users\Chitti\Desktop\major\educoin-ppt\assets\co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566928"/>
            <a:ext cx="237744" cy="2377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9164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EEF4FC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142857"/>
          </a:solidFill>
          <a:ln/>
        </p:spPr>
      </p:sp>
      <p:pic>
        <p:nvPicPr>
          <p:cNvPr id="8" name="Image 1" descr="C:\Users\Chitti\Desktop\major\educoin-ppt\assets\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9659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005840" y="278892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 Intel Core i5 or equivalent (i7 recommended)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8 GB minimum, 16 GB recommended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500 MB free disk space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1366 × 768 resolution or higher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internet connection (for deployment &amp; demo)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309360" y="169164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EEF4FC"/>
          </a:solidFill>
          <a:ln/>
        </p:spPr>
      </p:sp>
      <p:sp>
        <p:nvSpPr>
          <p:cNvPr id="12" name="Shape 8"/>
          <p:cNvSpPr/>
          <p:nvPr/>
        </p:nvSpPr>
        <p:spPr>
          <a:xfrm>
            <a:off x="6583680" y="196596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3" name="Image 2" descr="C:\Users\Chitti\Desktop\major\educoin-ppt\assets\lapto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69480" y="19659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675120" y="278892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Next.js 15 (React 19, App Router)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TypeScript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Styling: Tailwind CSS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Cryptography: Node.js crypto — SHA-256, Ed25519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Node.js 18+   ·   OS: Windows / macOS / Linux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 Git &amp; GitHub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4008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EDUCOIN  ·  TEAM 6  ·  DEPT. OF CSE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PLANNING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Plan &amp; Team Distribution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247120" y="457200"/>
            <a:ext cx="457200" cy="457200"/>
          </a:xfrm>
          <a:prstGeom prst="ellipse">
            <a:avLst/>
          </a:prstGeom>
          <a:solidFill>
            <a:srgbClr val="142857"/>
          </a:solidFill>
          <a:ln/>
        </p:spPr>
      </p:sp>
      <p:pic>
        <p:nvPicPr>
          <p:cNvPr id="5" name="Image 0" descr="C:\Users\Chitti\Desktop\major\educoin-ppt\assets\co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566928"/>
            <a:ext cx="237744" cy="2377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1965960"/>
            <a:ext cx="9784080" cy="0"/>
          </a:xfrm>
          <a:prstGeom prst="line">
            <a:avLst/>
          </a:prstGeom>
          <a:noFill/>
          <a:ln w="25400">
            <a:solidFill>
              <a:srgbClr val="E3E9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9264" y="1746504"/>
            <a:ext cx="438912" cy="438912"/>
          </a:xfrm>
          <a:prstGeom prst="ellipse">
            <a:avLst/>
          </a:prstGeom>
          <a:solidFill>
            <a:srgbClr val="F2A9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9264" y="1746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286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5284" y="1746504"/>
            <a:ext cx="438912" cy="438912"/>
          </a:xfrm>
          <a:prstGeom prst="ellipse">
            <a:avLst/>
          </a:prstGeom>
          <a:solidFill>
            <a:srgbClr val="1428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15284" y="1746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948940" y="2286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Issuance &amp;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861304" y="1746504"/>
            <a:ext cx="438912" cy="438912"/>
          </a:xfrm>
          <a:prstGeom prst="ellipse">
            <a:avLst/>
          </a:prstGeom>
          <a:solidFill>
            <a:srgbClr val="1428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61304" y="1746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394960" y="2286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Restrictions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307324" y="1746504"/>
            <a:ext cx="438912" cy="438912"/>
          </a:xfrm>
          <a:prstGeom prst="ellipse">
            <a:avLst/>
          </a:prstGeom>
          <a:solidFill>
            <a:srgbClr val="1428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07324" y="1746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840980" y="2286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&amp;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10753344" y="1746504"/>
            <a:ext cx="438912" cy="438912"/>
          </a:xfrm>
          <a:prstGeom prst="ellipse">
            <a:avLst/>
          </a:prstGeom>
          <a:solidFill>
            <a:srgbClr val="14285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753344" y="1746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287000" y="2286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0080" y="28803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milestone reviewed per month — each stage is fully demonstrable on its own.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0080" y="352044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EEF4FC"/>
          </a:solidFill>
          <a:ln/>
        </p:spPr>
      </p:sp>
      <p:sp>
        <p:nvSpPr>
          <p:cNvPr id="24" name="Shape 21"/>
          <p:cNvSpPr/>
          <p:nvPr/>
        </p:nvSpPr>
        <p:spPr>
          <a:xfrm>
            <a:off x="1668780" y="3721608"/>
            <a:ext cx="548640" cy="548640"/>
          </a:xfrm>
          <a:prstGeom prst="ellipse">
            <a:avLst/>
          </a:prstGeom>
          <a:solidFill>
            <a:srgbClr val="142857"/>
          </a:solidFill>
          <a:ln/>
        </p:spPr>
      </p:sp>
      <p:sp>
        <p:nvSpPr>
          <p:cNvPr id="25" name="Text 22"/>
          <p:cNvSpPr/>
          <p:nvPr/>
        </p:nvSpPr>
        <p:spPr>
          <a:xfrm>
            <a:off x="1668780" y="3721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777240" y="43891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Girish Sai Tipirneni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77240" y="481888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23071A05P4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77240" y="509320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Core &amp; Explorer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440180" y="56052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0" name="Text 27"/>
          <p:cNvSpPr/>
          <p:nvPr/>
        </p:nvSpPr>
        <p:spPr>
          <a:xfrm>
            <a:off x="1440180" y="56052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383280" y="352044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EEF4FC"/>
          </a:solidFill>
          <a:ln/>
        </p:spPr>
      </p:sp>
      <p:sp>
        <p:nvSpPr>
          <p:cNvPr id="32" name="Shape 29"/>
          <p:cNvSpPr/>
          <p:nvPr/>
        </p:nvSpPr>
        <p:spPr>
          <a:xfrm>
            <a:off x="4411980" y="3721608"/>
            <a:ext cx="548640" cy="548640"/>
          </a:xfrm>
          <a:prstGeom prst="ellipse">
            <a:avLst/>
          </a:prstGeom>
          <a:solidFill>
            <a:srgbClr val="142857"/>
          </a:solidFill>
          <a:ln/>
        </p:spPr>
      </p:sp>
      <p:sp>
        <p:nvSpPr>
          <p:cNvPr id="33" name="Text 30"/>
          <p:cNvSpPr/>
          <p:nvPr/>
        </p:nvSpPr>
        <p:spPr>
          <a:xfrm>
            <a:off x="4411980" y="3721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3520440" y="43891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Ravva Sai Sanjeeth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3520440" y="481888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23071A05T9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3520440" y="509320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&amp; Policy Engine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183380" y="56052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8" name="Text 35"/>
          <p:cNvSpPr/>
          <p:nvPr/>
        </p:nvSpPr>
        <p:spPr>
          <a:xfrm>
            <a:off x="4183380" y="56052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6126480" y="352044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EEF4FC"/>
          </a:solidFill>
          <a:ln/>
        </p:spPr>
      </p:sp>
      <p:sp>
        <p:nvSpPr>
          <p:cNvPr id="40" name="Shape 37"/>
          <p:cNvSpPr/>
          <p:nvPr/>
        </p:nvSpPr>
        <p:spPr>
          <a:xfrm>
            <a:off x="7155180" y="3721608"/>
            <a:ext cx="548640" cy="548640"/>
          </a:xfrm>
          <a:prstGeom prst="ellipse">
            <a:avLst/>
          </a:prstGeom>
          <a:solidFill>
            <a:srgbClr val="142857"/>
          </a:solidFill>
          <a:ln/>
        </p:spPr>
      </p:sp>
      <p:sp>
        <p:nvSpPr>
          <p:cNvPr id="41" name="Text 38"/>
          <p:cNvSpPr/>
          <p:nvPr/>
        </p:nvSpPr>
        <p:spPr>
          <a:xfrm>
            <a:off x="7155180" y="3721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42" name="Text 39"/>
          <p:cNvSpPr/>
          <p:nvPr/>
        </p:nvSpPr>
        <p:spPr>
          <a:xfrm>
            <a:off x="6263640" y="43891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Siddhartha Brahmanapally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6263640" y="481888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23071A05U3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263640" y="509320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Traceability, Settlement &amp; Analytics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6926580" y="56052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46" name="Text 43"/>
          <p:cNvSpPr/>
          <p:nvPr/>
        </p:nvSpPr>
        <p:spPr>
          <a:xfrm>
            <a:off x="6926580" y="56052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8869680" y="352044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EEF4FC"/>
          </a:solidFill>
          <a:ln/>
        </p:spPr>
      </p:sp>
      <p:sp>
        <p:nvSpPr>
          <p:cNvPr id="48" name="Shape 45"/>
          <p:cNvSpPr/>
          <p:nvPr/>
        </p:nvSpPr>
        <p:spPr>
          <a:xfrm>
            <a:off x="9898380" y="3721608"/>
            <a:ext cx="548640" cy="548640"/>
          </a:xfrm>
          <a:prstGeom prst="ellipse">
            <a:avLst/>
          </a:prstGeom>
          <a:solidFill>
            <a:srgbClr val="142857"/>
          </a:solidFill>
          <a:ln/>
        </p:spPr>
      </p:sp>
      <p:sp>
        <p:nvSpPr>
          <p:cNvPr id="49" name="Text 46"/>
          <p:cNvSpPr/>
          <p:nvPr/>
        </p:nvSpPr>
        <p:spPr>
          <a:xfrm>
            <a:off x="9898380" y="3721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000" dirty="0"/>
          </a:p>
        </p:txBody>
      </p:sp>
      <p:sp>
        <p:nvSpPr>
          <p:cNvPr id="50" name="Text 47"/>
          <p:cNvSpPr/>
          <p:nvPr/>
        </p:nvSpPr>
        <p:spPr>
          <a:xfrm>
            <a:off x="9006840" y="43891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Venuturla Jeevan M. Reddy</a:t>
            </a:r>
            <a:endParaRPr lang="en-US" sz="1250" dirty="0"/>
          </a:p>
        </p:txBody>
      </p:sp>
      <p:sp>
        <p:nvSpPr>
          <p:cNvPr id="51" name="Text 48"/>
          <p:cNvSpPr/>
          <p:nvPr/>
        </p:nvSpPr>
        <p:spPr>
          <a:xfrm>
            <a:off x="9006840" y="481888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23071A05U9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9006840" y="509320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UI, Admin Console &amp; Reports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9669780" y="56052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54" name="Text 51"/>
          <p:cNvSpPr/>
          <p:nvPr/>
        </p:nvSpPr>
        <p:spPr>
          <a:xfrm>
            <a:off x="9669780" y="56052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&amp; 5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64008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EDUCOIN  ·  TEAM 6  ·  DEPT. OF CSE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247120" y="457200"/>
            <a:ext cx="457200" cy="457200"/>
          </a:xfrm>
          <a:prstGeom prst="ellipse">
            <a:avLst/>
          </a:prstGeom>
          <a:solidFill>
            <a:srgbClr val="142857"/>
          </a:solidFill>
          <a:ln/>
        </p:spPr>
      </p:sp>
      <p:pic>
        <p:nvPicPr>
          <p:cNvPr id="5" name="Image 0" descr="C:\Users\Chitti\Desktop\major\educoin-ppt\assets\co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566928"/>
            <a:ext cx="237744" cy="2377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55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42857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755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07008" y="1737360"/>
            <a:ext cx="10314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Nakamoto, "Bitcoin: A Peer-to-Peer Electronic Cash System," 2008.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4688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2A90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468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07008" y="2450592"/>
            <a:ext cx="10314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Buterin, "Ethereum: A Next-Generation Smart Contract and Decentralized Application Platform," Ethereum Whitepaper, 2014.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31821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42857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207008" y="3163824"/>
            <a:ext cx="10314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Standards and Technology, "Blockchain Technology Overview," NISTIR 8202, 2018.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389534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2A900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895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07008" y="3877056"/>
            <a:ext cx="10314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Documentation, Vercel Inc. — nextjs.org/docs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" y="46085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42857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4608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07008" y="4590288"/>
            <a:ext cx="10314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Crypto Module Documentation, OpenJS Foundation — nodejs.org/api/crypto.html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0080" y="53218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207008" y="5303520"/>
            <a:ext cx="10314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42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CSE, "Design and Implementation of a Stable Cryptocurrency for Sector-Specific Requirement," Project Abstract, Team 6, 2026.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4008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EDUCOIN  ·  TEAM 6  ·  DEPT. OF CSE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8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30088" y="1371600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3" name="Image 0" descr="C:\Users\Chitti\Desktop\major\educoin-ppt\assets\co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4680" y="153619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0" y="324612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371600" y="39776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developed across five progressive stages — live demonstrations in upcoming reviews.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0" y="4937760"/>
            <a:ext cx="5788152" cy="0"/>
          </a:xfrm>
          <a:prstGeom prst="line">
            <a:avLst/>
          </a:prstGeom>
          <a:noFill/>
          <a:ln w="12700">
            <a:solidFill>
              <a:srgbClr val="2B447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51206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Deepak Sukheja — Associate Professor, Dept. of CSE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0" y="544068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Girish Sai Tipirneni  ·  Ravva Sai Sanjeeth  ·  Siddhartha Brahmanapally  ·  Venuturla Jeevan M. Reddy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2026-08-05T09:00:04Z</dcterms:created>
  <dcterms:modified xsi:type="dcterms:W3CDTF">2026-08-05T09:00:04Z</dcterms:modified>
</cp:coreProperties>
</file>